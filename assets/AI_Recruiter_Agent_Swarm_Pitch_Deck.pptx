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64592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AI SYSTEMS ARCHITECT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548640"/>
            <a:ext cx="128016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566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INDIA RUNS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293B"/>
                </a:solidFill>
                <a:latin typeface="Calibri"/>
              </a:defRPr>
            </a:pPr>
            <a:r>
              <a:t>AI Recruiter</a:t>
            </a:r>
          </a:p>
          <a:p>
            <a:pPr algn="l">
              <a:defRPr sz="4800" b="1">
                <a:solidFill>
                  <a:srgbClr val="4F46E5"/>
                </a:solidFill>
                <a:latin typeface="Calibri"/>
              </a:defRPr>
            </a:pPr>
            <a:r>
              <a:t>Agent Swarm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Calibri"/>
              </a:defRPr>
            </a:pPr>
            <a:r>
              <a:t>Autonomous multi-agent hiring for the next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peter14l</a:t>
            </a:r>
          </a:p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India Runs by Redrob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India's hiring is </a:t>
            </a:r>
          </a:p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broken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2004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46E5"/>
                </a:solidFill>
                <a:latin typeface="Calibri"/>
              </a:defRPr>
            </a:pPr>
            <a:r>
              <a:t>500+</a:t>
            </a:r>
          </a:p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Applications per role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95% irrelevant — recruiters drown in noise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59" y="1828800"/>
            <a:ext cx="32004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9" y="196596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46E5"/>
                </a:solidFill>
                <a:latin typeface="Calibri"/>
              </a:defRPr>
            </a:pPr>
            <a:r>
              <a:t>60%</a:t>
            </a:r>
          </a:p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Time spent screening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Not interviewing. Not hiring. Just filtering.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828800"/>
            <a:ext cx="32004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196596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A34A"/>
                </a:solidFill>
                <a:latin typeface="Calibri"/>
              </a:defRPr>
            </a:pPr>
            <a:r>
              <a:t>Hidden↓</a:t>
            </a:r>
          </a:p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Non-obvious talent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Tier 2/3, non-IIT, non-English candidates get missed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10515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Current AI tools are black boxes</a:t>
            </a:r>
          </a:p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They reject without explanation. No transparency, no trust, no feedback loop. Keyword filters miss transferable skills entirely.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India's recruitment market: $2B+ and growing 15% YoY — core tech hasn't changed in a decade.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91440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Three forces make this </a:t>
            </a:r>
          </a:p>
          <a:p>
            <a:pPr algn="l">
              <a:defRPr sz="3200" b="1">
                <a:solidFill>
                  <a:srgbClr val="16A34A"/>
                </a:solidFill>
                <a:latin typeface="Calibri"/>
              </a:defRPr>
            </a:pPr>
            <a:r>
              <a:t>possible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38328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AI Maturity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LLMs reason, plan, and use tools. Multi-agent frameworks are production-ready (CrewAI, AutoGen). Voice AI in Indian languages works (Sarvam, Bhashini).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828800"/>
            <a:ext cx="338328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9659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India's Talent Boom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1.5M+ engineers graduate annually. Tier 2/3 cities produce world-class talent. Remote work demands location-agnostic hiring.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828800"/>
            <a:ext cx="338328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9659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Redrob's Mission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Building India's AI OS for work. AI-native hiring is the foundational layer. Built for India, in India — not a Silicon Valley 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89120"/>
            <a:ext cx="105156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Calibri"/>
              </a:defRPr>
            </a:pPr>
            <a:r>
              <a:t>This combination of AI maturity, market need, and platform timing has never existed before.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Enter the </a:t>
            </a:r>
          </a:p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Agent 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5 specialized AI agents + 1 Orchestrator. From JD to shortlist in under 10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9326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148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1488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9326880" cy="347472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780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780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47802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Routes tasks, manages pipeline state, decides when to escalate to humans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70632"/>
            <a:ext cx="9326880" cy="347472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254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  <a:latin typeface="Calibri"/>
              </a:defRPr>
            </a:pPr>
            <a:r>
              <a:t>Sourcer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8254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Scout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82549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Searches LinkedIn, GitHub, Naukri, internal databases autonomously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18104"/>
            <a:ext cx="9326880" cy="347472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72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Matcher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1729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17296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Semantic ranking, transferable skill detection, explainable scoring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65576"/>
            <a:ext cx="9326880" cy="347472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20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B2777"/>
                </a:solidFill>
                <a:latin typeface="Calibri"/>
              </a:defRPr>
            </a:pPr>
            <a:r>
              <a:t>Screener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520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Interviewer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5204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Voice calls in Hinglish, dynamic questioning, sentiment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13048"/>
            <a:ext cx="9326880" cy="347472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867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Scheduler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38679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Coordinator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386791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Calendar sync, slot negotiation, reminders, feedback collection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Every decision explained. Every candidate gets a fair shot. No black boxes.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From JD to shortlist in under 10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865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JD Submitted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Recruiter pastes job description. Orchestrator parses and activates the swarm.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32004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9626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Multi-Source Sourcing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Sourcer Agent searches 4+ sources simultaneously — LinkedIn, GitHub, Naukri, internal DB.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0599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Semantic Matching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Matcher Agent scores candidates across 5 dimensions with full transparency.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28800"/>
            <a:ext cx="32004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8653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Voice Screening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Screener Agent conducts natural voice calls in Hinglish — adaptive, contextual, fair.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926080"/>
            <a:ext cx="32004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1616" y="29626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Auto-Scheduling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Scheduler Agent books interviews in one click. No email tennis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023360"/>
            <a:ext cx="32004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40599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Human Review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Recruiter reviews top candidates with full scoring breakdown and call transcripts.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Clean, scalable multi-agent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+----------------------------------+</a:t>
            </a:r>
            <a:br/>
            <a:r>
              <a:t>|       Recruiter Dashboard        |</a:t>
            </a:r>
            <a:br/>
            <a:r>
              <a:t>+---------------+------------------+</a:t>
            </a:r>
            <a:br/>
            <a:r>
              <a:t>                |</a:t>
            </a:r>
            <a:br/>
            <a:r>
              <a:t>+---------------v------------------+</a:t>
            </a:r>
            <a:br/>
            <a:r>
              <a:t>|         Orchestrator Agent        |</a:t>
            </a:r>
            <a:br/>
            <a:r>
              <a:t>| (Task Router + State + Escalation)|</a:t>
            </a:r>
            <a:br/>
            <a:r>
              <a:t>+--+--------+--------+--------+----+</a:t>
            </a:r>
            <a:br/>
            <a:r>
              <a:t>   |        |        |        |</a:t>
            </a:r>
            <a:br/>
            <a:r>
              <a:t>   v        v        v        v</a:t>
            </a:r>
            <a:br/>
            <a:r>
              <a:t>+--+---+  +-+-----+ ++-----+ +----+</a:t>
            </a:r>
            <a:br/>
            <a:r>
              <a:t>|Sourcer|  |Matcher| |Screen| |Sched|</a:t>
            </a:r>
            <a:br/>
            <a:r>
              <a:t>+-------+  +-------+ +-----+ +-----+</a:t>
            </a:r>
            <a:br/>
            <a:r>
              <a:t>   |        |        |        |</a:t>
            </a:r>
            <a:br/>
            <a:r>
              <a:t>   +--------+--------+--------+</a:t>
            </a:r>
            <a:br/>
            <a:r>
              <a:t>                |</a:t>
            </a:r>
            <a:br/>
            <a:r>
              <a:t>+---------------v-------------------+</a:t>
            </a:r>
            <a:br/>
            <a:r>
              <a:t>|   Memory Layer (Qdrant + Redis    |</a:t>
            </a:r>
            <a:br/>
            <a:r>
              <a:t>|          + PostgreSQL)             |</a:t>
            </a:r>
            <a:br/>
            <a:r>
              <a:t>+-----------------------------------+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20116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7728" y="17190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Framework</a:t>
            </a:r>
          </a:p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1645920"/>
            <a:ext cx="20116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62288" y="17190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LLM</a:t>
            </a:r>
          </a:p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Gemini 1.5 Pro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651760"/>
            <a:ext cx="20116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272491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Voice</a:t>
            </a:r>
          </a:p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Sarvam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2651760"/>
            <a:ext cx="20116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272491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Vector DB</a:t>
            </a:r>
          </a:p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Qdrant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657600"/>
            <a:ext cx="20116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37307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Embeddings</a:t>
            </a:r>
          </a:p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BGE-M3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3657600"/>
            <a:ext cx="20116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37307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Backend</a:t>
            </a:r>
          </a:p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120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Each agent is independently deployable. Async messaging via Redis pub/sub. Horizontal scaling on every layer.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Voice screening that speaks </a:t>
            </a:r>
          </a:p>
          <a:p>
            <a:pPr algn="l">
              <a:defRPr sz="3000" b="1">
                <a:solidFill>
                  <a:srgbClr val="16A34A"/>
                </a:solidFill>
                <a:latin typeface="Calibri"/>
              </a:defRPr>
            </a:pPr>
            <a:r>
              <a:t>India's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029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  <a:latin typeface="Calibri"/>
              </a:defRPr>
            </a:pPr>
            <a:r>
              <a:t>Traditional screening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Text-only, English-only, rigid Q&amp;A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Filters out great candidates who lack English fluency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Misses communication nuance, confidence, personality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Feels robotic and impersonal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0292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Our Screener Agent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Natural conversation in Hinglish, Hindi, English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Dynamic questioning that adapts to responses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Evaluates communication, confidence, cultural fit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Removes English fluency bias from early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4A"/>
                </a:solidFill>
                <a:latin typeface="Calibri"/>
              </a:defRPr>
            </a:pPr>
            <a:r>
              <a:t>80%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of Indians prefer</a:t>
            </a:r>
            <a:br/>
            <a:r>
              <a:t>native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4A"/>
                </a:solidFill>
                <a:latin typeface="Calibri"/>
              </a:defRPr>
            </a:pPr>
            <a:r>
              <a:t>+34%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accuracy with voice</a:t>
            </a:r>
            <a:br/>
            <a:r>
              <a:t>vs text-only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46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4A"/>
                </a:solidFill>
                <a:latin typeface="Calibri"/>
              </a:defRPr>
            </a:pPr>
            <a:r>
              <a:t>2x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candidate pool from</a:t>
            </a:r>
            <a:br/>
            <a:r>
              <a:t>language inclusion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What this means for a hiring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Time to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5–7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10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Recruiter screening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60% of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10% of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Candidates evaluated per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50–100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Candidate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Generic, English-only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Personalized, multilingual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Decision 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Black 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840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Full reasoning per candidate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54880"/>
            <a:ext cx="105156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2803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~70% reduction in cost-per-hire</a:t>
            </a:r>
          </a:p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for mid-to-senior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Built for Redrob, relevant for </a:t>
            </a:r>
          </a:p>
          <a:p>
            <a:pPr algn="l">
              <a:defRPr sz="3000" b="1">
                <a:solidFill>
                  <a:srgbClr val="16A34A"/>
                </a:solidFill>
                <a:latin typeface="Calibri"/>
              </a:defRPr>
            </a:pPr>
            <a:r>
              <a:t>everyone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4747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Redrob Integration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Native AI hiring layer for India's AI OS. Directly aligns with Redrob's mission as India's AI super app for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828800"/>
            <a:ext cx="34747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965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Enterprise SaaS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Standalone product for Indian companies (200–5000 employees). Plugs into existing ATS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1828800"/>
            <a:ext cx="34747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1965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API-First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64748B"/>
                </a:solidFill>
                <a:latin typeface="Calibri"/>
              </a:defRPr>
            </a:pPr>
            <a:r>
              <a:t>Embeddable agent swarm for any ATS. White-label options for recruitment agencies and platforms.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  <a:latin typeface="Calibri"/>
              </a:defRPr>
            </a:pPr>
            <a:r>
              <a:t>$2B+</a:t>
            </a:r>
          </a:p>
          <a:p>
            <a:pPr algn="ctr"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India recruitment</a:t>
            </a:r>
            <a:br/>
            <a:r>
              <a:t>software TAM by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06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500</a:t>
            </a:r>
          </a:p>
          <a:p>
            <a:pPr algn="ctr"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Mid-size Indian</a:t>
            </a:r>
            <a:br/>
            <a:r>
              <a:t>companies — initial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Beyond the hackathon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6517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5176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  <a:latin typeface="Calibri"/>
              </a:defRPr>
            </a:pPr>
            <a:r>
              <a:t>Q3 2026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1E293B"/>
                </a:solidFill>
                <a:latin typeface="Calibri"/>
              </a:defRPr>
            </a:pPr>
            <a:r>
              <a:t>PoC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Core swarm with synthetic data.</a:t>
            </a:r>
            <a:br/>
            <a:r>
              <a:t>Orchestrator + Matcher + mock sources.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6517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6517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0116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Calibri"/>
              </a:defRPr>
            </a:pPr>
            <a:r>
              <a:t>Q4 2026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1E293B"/>
                </a:solidFill>
                <a:latin typeface="Calibri"/>
              </a:defRPr>
            </a:pPr>
            <a:r>
              <a:t>MVP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Live with 5 beta customers.</a:t>
            </a:r>
            <a:br/>
            <a:r>
              <a:t>LinkedIn source, 3 agents.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26517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6517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116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Q1 2027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1E293B"/>
                </a:solidFill>
                <a:latin typeface="Calibri"/>
              </a:defRPr>
            </a:pPr>
            <a:r>
              <a:t>Growth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4+ sources, all 5 agents.</a:t>
            </a:r>
            <a:br/>
            <a:r>
              <a:t>Hinglish voice screening, production.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828800"/>
            <a:ext cx="26517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828800"/>
            <a:ext cx="265176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20116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B2777"/>
                </a:solidFill>
                <a:latin typeface="Calibri"/>
              </a:defRPr>
            </a:pPr>
            <a:r>
              <a:t>Q2 2027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1E293B"/>
                </a:solidFill>
                <a:latin typeface="Calibri"/>
              </a:defRPr>
            </a:pPr>
            <a:r>
              <a:t>Scale</a:t>
            </a:r>
          </a:p>
          <a:p>
            <a:pPr algn="l">
              <a:spcBef>
                <a:spcPts val="8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Multi-lingual voice, learning loop.</a:t>
            </a:r>
            <a:br/>
            <a:r>
              <a:t>Enterprise features, API marketplace.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Builder, not just a </a:t>
            </a:r>
          </a:p>
          <a:p>
            <a:pPr algn="l">
              <a:defRPr sz="3000" b="1">
                <a:solidFill>
                  <a:srgbClr val="16A34A"/>
                </a:solidFill>
                <a:latin typeface="Calibri"/>
              </a:defRPr>
            </a:pPr>
            <a:r>
              <a:t>presenter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914400" cy="9144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F46E5"/>
                </a:solidFill>
                <a:latin typeface="Calibri"/>
              </a:defRPr>
            </a:pPr>
            <a:r>
              <a:t>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0116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Class 12 graduate · Proficient with AI tools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4748B"/>
                </a:solidFill>
                <a:latin typeface="Calibri"/>
              </a:defRPr>
            </a:pPr>
            <a:r>
              <a:t>I just experienced the hiring process as a candidate. I know firsthand how broken it feels on the other side. This isn't theoretical — it's personal.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4F46E5"/>
                </a:solidFill>
                <a:latin typeface="Calibri"/>
              </a:defRPr>
            </a:pPr>
            <a:r>
              <a:t>Building for India — where I live, study, and will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023360"/>
            <a:ext cx="77724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09651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“I'm not here to pitch. I'm here to build what next India runs 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293B"/>
                </a:solidFill>
                <a:latin typeface="Calibri"/>
              </a:defRPr>
            </a:pPr>
            <a:r>
              <a:t>Thank </a:t>
            </a:r>
          </a:p>
          <a:p>
            <a:pPr algn="ctr">
              <a:defRPr sz="4800" b="1">
                <a:solidFill>
                  <a:srgbClr val="4F46E5"/>
                </a:solidFill>
                <a:latin typeface="Calibri"/>
              </a:defRPr>
            </a:pPr>
            <a:r>
              <a:t>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Let's build India's AI-native hiring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GitHub:  github.com/peter14l/india-runs-ai-recruiter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64748B"/>
                </a:solidFill>
                <a:latin typeface="Calibri"/>
              </a:defRPr>
            </a:pPr>
            <a:r>
              <a:t>Event:  India Runs by Redrob AI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64748B"/>
                </a:solidFill>
                <a:latin typeface="Calibri"/>
              </a:defRPr>
            </a:pPr>
            <a:r>
              <a:t>Track:  Challenge 1 — AI Systems Architect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486400"/>
            <a:ext cx="146304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5513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#IndiaRuns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5486400"/>
            <a:ext cx="146304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5513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#RedrobAI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5486400"/>
            <a:ext cx="146304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5513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#AIAgentSwarm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